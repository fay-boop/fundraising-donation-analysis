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verage"/>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verage-regular.fnt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739185595732a38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39185595732a38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739185595732a38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739185595732a38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739185595732a38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739185595732a38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6961e77722ce86c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6961e77722ce86c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6961e77722ce86ca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6961e77722ce86ca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6961e77722ce86ca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6961e77722ce86ca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6961e77722ce86ca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6961e77722ce86ca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6961e77722ce86ca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6961e77722ce86ca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6961e77722ce86ca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6961e77722ce86ca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6961e77722ce86ca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6961e77722ce86ca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6961e77722ce86ca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6961e77722ce86ca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6961e77722ce86ca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6961e77722ce86ca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961e77722ce86ca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961e77722ce86ca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961e77722ce86ca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961e77722ce86ca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6961e77722ce86ca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6961e77722ce86ca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6961e77722ce86ca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6961e77722ce86ca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6961e77722ce86ca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6961e77722ce86ca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6961e77722ce86ca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6961e77722ce86ca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6961e77722ce86ca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6961e77722ce86ca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013095" y="-150086"/>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Average"/>
                <a:ea typeface="Average"/>
                <a:cs typeface="Average"/>
                <a:sym typeface="Average"/>
              </a:rPr>
              <a:t>SQL Capstone </a:t>
            </a:r>
            <a:r>
              <a:rPr lang="en-GB">
                <a:latin typeface="Average"/>
                <a:ea typeface="Average"/>
                <a:cs typeface="Average"/>
                <a:sym typeface="Average"/>
              </a:rPr>
              <a:t>project </a:t>
            </a:r>
            <a:endParaRPr>
              <a:latin typeface="Average"/>
              <a:ea typeface="Average"/>
              <a:cs typeface="Average"/>
              <a:sym typeface="Average"/>
            </a:endParaRPr>
          </a:p>
        </p:txBody>
      </p:sp>
      <p:sp>
        <p:nvSpPr>
          <p:cNvPr id="55" name="Google Shape;55;p13"/>
          <p:cNvSpPr txBox="1"/>
          <p:nvPr>
            <p:ph idx="1" type="subTitle"/>
          </p:nvPr>
        </p:nvSpPr>
        <p:spPr>
          <a:xfrm>
            <a:off x="623400" y="2093100"/>
            <a:ext cx="8520600" cy="95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1900">
                <a:latin typeface="Average"/>
                <a:ea typeface="Average"/>
                <a:cs typeface="Average"/>
                <a:sym typeface="Average"/>
              </a:rPr>
              <a:t>Prepared by: Erowo faith Igbikidima </a:t>
            </a:r>
            <a:endParaRPr sz="1900">
              <a:latin typeface="Average"/>
              <a:ea typeface="Average"/>
              <a:cs typeface="Average"/>
              <a:sym typeface="Average"/>
            </a:endParaRPr>
          </a:p>
          <a:p>
            <a:pPr indent="0" lvl="0" marL="0" rtl="0" algn="ctr">
              <a:spcBef>
                <a:spcPts val="0"/>
              </a:spcBef>
              <a:spcAft>
                <a:spcPts val="0"/>
              </a:spcAft>
              <a:buNone/>
            </a:pPr>
            <a:r>
              <a:t/>
            </a:r>
            <a:endParaRPr sz="1900">
              <a:latin typeface="Average"/>
              <a:ea typeface="Average"/>
              <a:cs typeface="Average"/>
              <a:sym typeface="Average"/>
            </a:endParaRPr>
          </a:p>
          <a:p>
            <a:pPr indent="0" lvl="0" marL="0" rtl="0" algn="ctr">
              <a:spcBef>
                <a:spcPts val="0"/>
              </a:spcBef>
              <a:spcAft>
                <a:spcPts val="0"/>
              </a:spcAft>
              <a:buNone/>
            </a:pPr>
            <a:r>
              <a:rPr lang="en-GB" sz="1900">
                <a:latin typeface="Average"/>
                <a:ea typeface="Average"/>
                <a:cs typeface="Average"/>
                <a:sym typeface="Average"/>
              </a:rPr>
              <a:t>Course:SQL for data Analytics </a:t>
            </a:r>
            <a:endParaRPr sz="1900">
              <a:latin typeface="Average"/>
              <a:ea typeface="Average"/>
              <a:cs typeface="Average"/>
              <a:sym typeface="Average"/>
            </a:endParaRPr>
          </a:p>
          <a:p>
            <a:pPr indent="0" lvl="0" marL="0" rtl="0" algn="ctr">
              <a:spcBef>
                <a:spcPts val="0"/>
              </a:spcBef>
              <a:spcAft>
                <a:spcPts val="0"/>
              </a:spcAft>
              <a:buNone/>
            </a:pPr>
            <a:r>
              <a:rPr lang="en-GB" sz="1900">
                <a:latin typeface="Average"/>
                <a:ea typeface="Average"/>
                <a:cs typeface="Average"/>
                <a:sym typeface="Average"/>
              </a:rPr>
              <a:t>Tools used : PostgreSQL, SQL and google doc</a:t>
            </a:r>
            <a:endParaRPr sz="1900">
              <a:latin typeface="Average"/>
              <a:ea typeface="Average"/>
              <a:cs typeface="Average"/>
              <a:sym typeface="Average"/>
            </a:endParaRPr>
          </a:p>
          <a:p>
            <a:pPr indent="0" lvl="0" marL="0" rtl="0" algn="ctr">
              <a:spcBef>
                <a:spcPts val="0"/>
              </a:spcBef>
              <a:spcAft>
                <a:spcPts val="0"/>
              </a:spcAft>
              <a:buNone/>
            </a:pPr>
            <a:r>
              <a:rPr lang="en-GB" sz="1900">
                <a:latin typeface="Average"/>
                <a:ea typeface="Average"/>
                <a:cs typeface="Average"/>
                <a:sym typeface="Average"/>
              </a:rPr>
              <a:t>Submission date: 01:00 PM (GMT+1) on Saturday, 27 June 2026</a:t>
            </a:r>
            <a:endParaRPr sz="1900">
              <a:latin typeface="Average"/>
              <a:ea typeface="Average"/>
              <a:cs typeface="Average"/>
              <a:sym typeface="Average"/>
            </a:endParaRPr>
          </a:p>
        </p:txBody>
      </p:sp>
      <p:sp>
        <p:nvSpPr>
          <p:cNvPr id="56" name="Google Shape;56;p13"/>
          <p:cNvSpPr txBox="1"/>
          <p:nvPr/>
        </p:nvSpPr>
        <p:spPr>
          <a:xfrm>
            <a:off x="6482577" y="4343400"/>
            <a:ext cx="9144000" cy="115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Facilitator:</a:t>
            </a:r>
            <a:br>
              <a:rPr b="1" lang="en-GB" sz="1100">
                <a:solidFill>
                  <a:schemeClr val="dk1"/>
                </a:solidFill>
              </a:rPr>
            </a:br>
            <a:r>
              <a:rPr lang="en-GB" sz="1100">
                <a:solidFill>
                  <a:schemeClr val="dk1"/>
                </a:solidFill>
              </a:rPr>
              <a:t> Gideon Ezimechina</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699" y="237898"/>
            <a:ext cx="10068300" cy="28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Average"/>
                <a:ea typeface="Average"/>
                <a:cs typeface="Average"/>
                <a:sym typeface="Average"/>
              </a:rPr>
              <a:t>TABLE OF CONTENTS</a:t>
            </a:r>
            <a:endParaRPr>
              <a:latin typeface="Average"/>
              <a:ea typeface="Average"/>
              <a:cs typeface="Average"/>
              <a:sym typeface="Average"/>
            </a:endParaRPr>
          </a:p>
        </p:txBody>
      </p:sp>
      <p:sp>
        <p:nvSpPr>
          <p:cNvPr id="62" name="Google Shape;62;p14"/>
          <p:cNvSpPr txBox="1"/>
          <p:nvPr>
            <p:ph idx="1" type="body"/>
          </p:nvPr>
        </p:nvSpPr>
        <p:spPr>
          <a:xfrm>
            <a:off x="311692" y="895967"/>
            <a:ext cx="8520600" cy="446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550">
                <a:latin typeface="Average"/>
                <a:ea typeface="Average"/>
                <a:cs typeface="Average"/>
                <a:sym typeface="Average"/>
              </a:rPr>
              <a:t>1</a:t>
            </a:r>
            <a:r>
              <a:rPr lang="en-GB" sz="1550">
                <a:latin typeface="Average"/>
                <a:ea typeface="Average"/>
                <a:cs typeface="Average"/>
                <a:sym typeface="Average"/>
              </a:rPr>
              <a:t>. Executive Summary</a:t>
            </a:r>
            <a:endParaRPr sz="1550">
              <a:latin typeface="Average"/>
              <a:ea typeface="Average"/>
              <a:cs typeface="Average"/>
              <a:sym typeface="Average"/>
            </a:endParaRPr>
          </a:p>
          <a:p>
            <a:pPr indent="0" lvl="0" marL="0" rtl="0" algn="l">
              <a:spcBef>
                <a:spcPts val="1200"/>
              </a:spcBef>
              <a:spcAft>
                <a:spcPts val="0"/>
              </a:spcAft>
              <a:buNone/>
            </a:pPr>
            <a:r>
              <a:rPr b="1" lang="en-GB" sz="1550">
                <a:latin typeface="Average"/>
                <a:ea typeface="Average"/>
                <a:cs typeface="Average"/>
                <a:sym typeface="Average"/>
              </a:rPr>
              <a:t>2</a:t>
            </a:r>
            <a:r>
              <a:rPr lang="en-GB" sz="1550">
                <a:latin typeface="Average"/>
                <a:ea typeface="Average"/>
                <a:cs typeface="Average"/>
                <a:sym typeface="Average"/>
              </a:rPr>
              <a:t>. Business Problem</a:t>
            </a:r>
            <a:endParaRPr sz="1550">
              <a:latin typeface="Average"/>
              <a:ea typeface="Average"/>
              <a:cs typeface="Average"/>
              <a:sym typeface="Average"/>
            </a:endParaRPr>
          </a:p>
          <a:p>
            <a:pPr indent="0" lvl="0" marL="0" rtl="0" algn="l">
              <a:spcBef>
                <a:spcPts val="1200"/>
              </a:spcBef>
              <a:spcAft>
                <a:spcPts val="0"/>
              </a:spcAft>
              <a:buNone/>
            </a:pPr>
            <a:r>
              <a:rPr b="1" lang="en-GB" sz="1550">
                <a:latin typeface="Average"/>
                <a:ea typeface="Average"/>
                <a:cs typeface="Average"/>
                <a:sym typeface="Average"/>
              </a:rPr>
              <a:t>3</a:t>
            </a:r>
            <a:r>
              <a:rPr lang="en-GB" sz="1550">
                <a:latin typeface="Average"/>
                <a:ea typeface="Average"/>
                <a:cs typeface="Average"/>
                <a:sym typeface="Average"/>
              </a:rPr>
              <a:t>. Project Objectives</a:t>
            </a:r>
            <a:endParaRPr sz="1550">
              <a:latin typeface="Average"/>
              <a:ea typeface="Average"/>
              <a:cs typeface="Average"/>
              <a:sym typeface="Average"/>
            </a:endParaRPr>
          </a:p>
          <a:p>
            <a:pPr indent="0" lvl="0" marL="0" rtl="0" algn="l">
              <a:spcBef>
                <a:spcPts val="1200"/>
              </a:spcBef>
              <a:spcAft>
                <a:spcPts val="0"/>
              </a:spcAft>
              <a:buNone/>
            </a:pPr>
            <a:r>
              <a:rPr b="1" lang="en-GB" sz="1550">
                <a:latin typeface="Average"/>
                <a:ea typeface="Average"/>
                <a:cs typeface="Average"/>
                <a:sym typeface="Average"/>
              </a:rPr>
              <a:t>4</a:t>
            </a:r>
            <a:r>
              <a:rPr lang="en-GB" sz="1550">
                <a:latin typeface="Average"/>
                <a:ea typeface="Average"/>
                <a:cs typeface="Average"/>
                <a:sym typeface="Average"/>
              </a:rPr>
              <a:t>. Dataset Overview</a:t>
            </a:r>
            <a:endParaRPr sz="1550">
              <a:latin typeface="Average"/>
              <a:ea typeface="Average"/>
              <a:cs typeface="Average"/>
              <a:sym typeface="Average"/>
            </a:endParaRPr>
          </a:p>
          <a:p>
            <a:pPr indent="0" lvl="0" marL="0" rtl="0" algn="l">
              <a:spcBef>
                <a:spcPts val="1200"/>
              </a:spcBef>
              <a:spcAft>
                <a:spcPts val="0"/>
              </a:spcAft>
              <a:buNone/>
            </a:pPr>
            <a:r>
              <a:rPr b="1" lang="en-GB" sz="1550">
                <a:latin typeface="Average"/>
                <a:ea typeface="Average"/>
                <a:cs typeface="Average"/>
                <a:sym typeface="Average"/>
              </a:rPr>
              <a:t>5</a:t>
            </a:r>
            <a:r>
              <a:rPr lang="en-GB" sz="1550">
                <a:latin typeface="Average"/>
                <a:ea typeface="Average"/>
                <a:cs typeface="Average"/>
                <a:sym typeface="Average"/>
              </a:rPr>
              <a:t>. Methodology</a:t>
            </a:r>
            <a:endParaRPr sz="1550">
              <a:latin typeface="Average"/>
              <a:ea typeface="Average"/>
              <a:cs typeface="Average"/>
              <a:sym typeface="Average"/>
            </a:endParaRPr>
          </a:p>
          <a:p>
            <a:pPr indent="0" lvl="0" marL="0" rtl="0" algn="l">
              <a:spcBef>
                <a:spcPts val="1200"/>
              </a:spcBef>
              <a:spcAft>
                <a:spcPts val="0"/>
              </a:spcAft>
              <a:buNone/>
            </a:pPr>
            <a:r>
              <a:rPr b="1" lang="en-GB" sz="1550">
                <a:latin typeface="Average"/>
                <a:ea typeface="Average"/>
                <a:cs typeface="Average"/>
                <a:sym typeface="Average"/>
              </a:rPr>
              <a:t>6.</a:t>
            </a:r>
            <a:r>
              <a:rPr lang="en-GB" sz="1550">
                <a:latin typeface="Average"/>
                <a:ea typeface="Average"/>
                <a:cs typeface="Average"/>
                <a:sym typeface="Average"/>
              </a:rPr>
              <a:t> Business Questions and Analysis</a:t>
            </a:r>
            <a:endParaRPr sz="1550">
              <a:latin typeface="Average"/>
              <a:ea typeface="Average"/>
              <a:cs typeface="Average"/>
              <a:sym typeface="Average"/>
            </a:endParaRPr>
          </a:p>
          <a:p>
            <a:pPr indent="0" lvl="0" marL="0" rtl="0" algn="l">
              <a:spcBef>
                <a:spcPts val="1200"/>
              </a:spcBef>
              <a:spcAft>
                <a:spcPts val="0"/>
              </a:spcAft>
              <a:buNone/>
            </a:pPr>
            <a:r>
              <a:rPr lang="en-GB" sz="1550">
                <a:latin typeface="Average"/>
                <a:ea typeface="Average"/>
                <a:cs typeface="Average"/>
                <a:sym typeface="Average"/>
              </a:rPr>
              <a:t>Question A</a:t>
            </a:r>
            <a:endParaRPr sz="1550">
              <a:latin typeface="Average"/>
              <a:ea typeface="Average"/>
              <a:cs typeface="Average"/>
              <a:sym typeface="Average"/>
            </a:endParaRPr>
          </a:p>
          <a:p>
            <a:pPr indent="0" lvl="0" marL="0" rtl="0" algn="l">
              <a:spcBef>
                <a:spcPts val="1200"/>
              </a:spcBef>
              <a:spcAft>
                <a:spcPts val="0"/>
              </a:spcAft>
              <a:buNone/>
            </a:pPr>
            <a:r>
              <a:rPr lang="en-GB" sz="1550">
                <a:latin typeface="Average"/>
                <a:ea typeface="Average"/>
                <a:cs typeface="Average"/>
                <a:sym typeface="Average"/>
              </a:rPr>
              <a:t> Question B</a:t>
            </a:r>
            <a:endParaRPr sz="1550">
              <a:latin typeface="Average"/>
              <a:ea typeface="Average"/>
              <a:cs typeface="Average"/>
              <a:sym typeface="Average"/>
            </a:endParaRPr>
          </a:p>
          <a:p>
            <a:pPr indent="0" lvl="0" marL="0" rtl="0" algn="l">
              <a:spcBef>
                <a:spcPts val="1200"/>
              </a:spcBef>
              <a:spcAft>
                <a:spcPts val="0"/>
              </a:spcAft>
              <a:buNone/>
            </a:pPr>
            <a:r>
              <a:rPr lang="en-GB" sz="1550">
                <a:latin typeface="Average"/>
                <a:ea typeface="Average"/>
                <a:cs typeface="Average"/>
                <a:sym typeface="Average"/>
              </a:rPr>
              <a:t>Question C</a:t>
            </a:r>
            <a:endParaRPr sz="1550">
              <a:latin typeface="Average"/>
              <a:ea typeface="Average"/>
              <a:cs typeface="Average"/>
              <a:sym typeface="Average"/>
            </a:endParaRPr>
          </a:p>
          <a:p>
            <a:pPr indent="0" lvl="0" marL="0" rtl="0" algn="l">
              <a:spcBef>
                <a:spcPts val="1200"/>
              </a:spcBef>
              <a:spcAft>
                <a:spcPts val="0"/>
              </a:spcAft>
              <a:buNone/>
            </a:pPr>
            <a:r>
              <a:rPr lang="en-GB" sz="1550">
                <a:latin typeface="Average"/>
                <a:ea typeface="Average"/>
                <a:cs typeface="Average"/>
                <a:sym typeface="Average"/>
              </a:rPr>
              <a:t>Question D</a:t>
            </a:r>
            <a:endParaRPr sz="1550">
              <a:latin typeface="Average"/>
              <a:ea typeface="Average"/>
              <a:cs typeface="Average"/>
              <a:sym typeface="Average"/>
            </a:endParaRPr>
          </a:p>
          <a:p>
            <a:pPr indent="0" lvl="0" marL="0" rtl="0" algn="l">
              <a:spcBef>
                <a:spcPts val="1200"/>
              </a:spcBef>
              <a:spcAft>
                <a:spcPts val="1200"/>
              </a:spcAft>
              <a:buNone/>
            </a:pPr>
            <a:r>
              <a:rPr lang="en-GB" sz="1550">
                <a:latin typeface="Average"/>
                <a:ea typeface="Average"/>
                <a:cs typeface="Average"/>
                <a:sym typeface="Average"/>
              </a:rPr>
              <a:t>   </a:t>
            </a:r>
            <a:endParaRPr sz="1550">
              <a:latin typeface="Average"/>
              <a:ea typeface="Average"/>
              <a:cs typeface="Average"/>
              <a:sym typeface="Average"/>
            </a:endParaRPr>
          </a:p>
        </p:txBody>
      </p:sp>
      <p:sp>
        <p:nvSpPr>
          <p:cNvPr id="63" name="Google Shape;63;p14"/>
          <p:cNvSpPr txBox="1"/>
          <p:nvPr/>
        </p:nvSpPr>
        <p:spPr>
          <a:xfrm>
            <a:off x="0" y="1642130"/>
            <a:ext cx="91440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552222" y="206404"/>
            <a:ext cx="5902800" cy="493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 </a:t>
            </a:r>
            <a:r>
              <a:rPr lang="en-GB" sz="1600">
                <a:solidFill>
                  <a:schemeClr val="dk2"/>
                </a:solidFill>
                <a:latin typeface="Average"/>
                <a:ea typeface="Average"/>
                <a:cs typeface="Average"/>
                <a:sym typeface="Average"/>
              </a:rPr>
              <a:t>Question E</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Question F</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 Question G</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Question H</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 Question I</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330200" lvl="0" marL="457200" rtl="0" algn="l">
              <a:spcBef>
                <a:spcPts val="0"/>
              </a:spcBef>
              <a:spcAft>
                <a:spcPts val="0"/>
              </a:spcAft>
              <a:buClr>
                <a:schemeClr val="dk2"/>
              </a:buClr>
              <a:buSzPts val="1600"/>
              <a:buFont typeface="Average"/>
              <a:buChar char="●"/>
            </a:pPr>
            <a:r>
              <a:rPr lang="en-GB" sz="1600">
                <a:solidFill>
                  <a:schemeClr val="dk2"/>
                </a:solidFill>
                <a:latin typeface="Average"/>
                <a:ea typeface="Average"/>
                <a:cs typeface="Average"/>
                <a:sym typeface="Average"/>
              </a:rPr>
              <a:t>Question J</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0" lvl="0" marL="0" rtl="0" algn="l">
              <a:spcBef>
                <a:spcPts val="0"/>
              </a:spcBef>
              <a:spcAft>
                <a:spcPts val="0"/>
              </a:spcAft>
              <a:buNone/>
            </a:pPr>
            <a:r>
              <a:rPr b="1" lang="en-GB" sz="1600">
                <a:solidFill>
                  <a:schemeClr val="dk2"/>
                </a:solidFill>
                <a:latin typeface="Average"/>
                <a:ea typeface="Average"/>
                <a:cs typeface="Average"/>
                <a:sym typeface="Average"/>
              </a:rPr>
              <a:t>7</a:t>
            </a:r>
            <a:r>
              <a:rPr lang="en-GB" sz="1600">
                <a:solidFill>
                  <a:schemeClr val="dk2"/>
                </a:solidFill>
                <a:latin typeface="Average"/>
                <a:ea typeface="Average"/>
                <a:cs typeface="Average"/>
                <a:sym typeface="Average"/>
              </a:rPr>
              <a:t>. Key Findings</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0" lvl="0" marL="0" rtl="0" algn="l">
              <a:spcBef>
                <a:spcPts val="0"/>
              </a:spcBef>
              <a:spcAft>
                <a:spcPts val="0"/>
              </a:spcAft>
              <a:buNone/>
            </a:pPr>
            <a:r>
              <a:rPr b="1" lang="en-GB" sz="1600">
                <a:solidFill>
                  <a:schemeClr val="dk2"/>
                </a:solidFill>
                <a:latin typeface="Average"/>
                <a:ea typeface="Average"/>
                <a:cs typeface="Average"/>
                <a:sym typeface="Average"/>
              </a:rPr>
              <a:t>8</a:t>
            </a:r>
            <a:r>
              <a:rPr lang="en-GB" sz="1600">
                <a:solidFill>
                  <a:schemeClr val="dk2"/>
                </a:solidFill>
                <a:latin typeface="Average"/>
                <a:ea typeface="Average"/>
                <a:cs typeface="Average"/>
                <a:sym typeface="Average"/>
              </a:rPr>
              <a:t>. Recommendations</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0" lvl="0" marL="0" rtl="0" algn="l">
              <a:spcBef>
                <a:spcPts val="0"/>
              </a:spcBef>
              <a:spcAft>
                <a:spcPts val="0"/>
              </a:spcAft>
              <a:buNone/>
            </a:pPr>
            <a:r>
              <a:rPr b="1" lang="en-GB" sz="1600">
                <a:solidFill>
                  <a:schemeClr val="dk2"/>
                </a:solidFill>
                <a:latin typeface="Average"/>
                <a:ea typeface="Average"/>
                <a:cs typeface="Average"/>
                <a:sym typeface="Average"/>
              </a:rPr>
              <a:t>9</a:t>
            </a:r>
            <a:r>
              <a:rPr lang="en-GB" sz="1600">
                <a:solidFill>
                  <a:schemeClr val="dk2"/>
                </a:solidFill>
                <a:latin typeface="Average"/>
                <a:ea typeface="Average"/>
                <a:cs typeface="Average"/>
                <a:sym typeface="Average"/>
              </a:rPr>
              <a:t>. Conclusion</a:t>
            </a:r>
            <a:endParaRPr sz="1600">
              <a:solidFill>
                <a:schemeClr val="dk2"/>
              </a:solidFill>
              <a:latin typeface="Average"/>
              <a:ea typeface="Average"/>
              <a:cs typeface="Average"/>
              <a:sym typeface="Average"/>
            </a:endParaRPr>
          </a:p>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0" lvl="0" marL="0" rtl="0" algn="l">
              <a:spcBef>
                <a:spcPts val="0"/>
              </a:spcBef>
              <a:spcAft>
                <a:spcPts val="0"/>
              </a:spcAft>
              <a:buNone/>
            </a:pPr>
            <a:r>
              <a:rPr b="1" lang="en-GB" sz="1600">
                <a:solidFill>
                  <a:schemeClr val="dk2"/>
                </a:solidFill>
                <a:latin typeface="Average"/>
                <a:ea typeface="Average"/>
                <a:cs typeface="Average"/>
                <a:sym typeface="Average"/>
              </a:rPr>
              <a:t>10</a:t>
            </a:r>
            <a:r>
              <a:rPr lang="en-GB" sz="1600">
                <a:solidFill>
                  <a:schemeClr val="dk2"/>
                </a:solidFill>
                <a:latin typeface="Average"/>
                <a:ea typeface="Average"/>
                <a:cs typeface="Average"/>
                <a:sym typeface="Average"/>
              </a:rPr>
              <a:t>. Appendix</a:t>
            </a:r>
            <a:endParaRPr sz="1600">
              <a:solidFill>
                <a:schemeClr val="dk2"/>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392968" y="305670"/>
            <a:ext cx="57333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2"/>
                </a:solidFill>
                <a:latin typeface="Average"/>
                <a:ea typeface="Average"/>
                <a:cs typeface="Average"/>
                <a:sym typeface="Average"/>
              </a:rPr>
              <a:t>⸻</a:t>
            </a:r>
            <a:endParaRPr sz="1500">
              <a:solidFill>
                <a:schemeClr val="dk2"/>
              </a:solidFill>
              <a:latin typeface="Average"/>
              <a:ea typeface="Average"/>
              <a:cs typeface="Average"/>
              <a:sym typeface="Average"/>
            </a:endParaRPr>
          </a:p>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1. EXECUTIVE SUMMARY</a:t>
            </a:r>
            <a:endParaRPr sz="1500">
              <a:solidFill>
                <a:schemeClr val="dk2"/>
              </a:solidFill>
              <a:latin typeface="Average"/>
              <a:ea typeface="Average"/>
              <a:cs typeface="Average"/>
              <a:sym typeface="Average"/>
            </a:endParaRPr>
          </a:p>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Executive Summary</a:t>
            </a:r>
            <a:endParaRPr sz="1500">
              <a:solidFill>
                <a:schemeClr val="dk2"/>
              </a:solidFill>
              <a:latin typeface="Average"/>
              <a:ea typeface="Average"/>
              <a:cs typeface="Average"/>
              <a:sym typeface="Average"/>
            </a:endParaRPr>
          </a:p>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This report analyzes the Education for All fundraising data to provide insights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that support better fundraising decisions. Using PostgreSQL and SQL,</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donor and donation data were analyzed to identify donation trends, donor behavior, and key fundraising opportunities.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The findings provide recommendations to help increase the number of donors,</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improve donation frequency, and maximize donation value through data-driven strategies.</a:t>
            </a:r>
            <a:endParaRPr sz="1500">
              <a:solidFill>
                <a:schemeClr val="dk2"/>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416239" y="627450"/>
            <a:ext cx="7397100" cy="281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200">
                <a:solidFill>
                  <a:schemeClr val="dk2"/>
                </a:solidFill>
                <a:latin typeface="Average"/>
                <a:ea typeface="Average"/>
                <a:cs typeface="Average"/>
                <a:sym typeface="Average"/>
              </a:rPr>
              <a:t>Business Problem</a:t>
            </a:r>
            <a:endParaRPr b="1" sz="2200">
              <a:solidFill>
                <a:schemeClr val="dk2"/>
              </a:solidFill>
              <a:latin typeface="Average"/>
              <a:ea typeface="Average"/>
              <a:cs typeface="Average"/>
              <a:sym typeface="Average"/>
            </a:endParaRPr>
          </a:p>
          <a:p>
            <a:pPr indent="0" lvl="0" marL="0" rtl="0" algn="l">
              <a:spcBef>
                <a:spcPts val="0"/>
              </a:spcBef>
              <a:spcAft>
                <a:spcPts val="0"/>
              </a:spcAft>
              <a:buNone/>
            </a:pPr>
            <a:r>
              <a:t/>
            </a:r>
            <a:endParaRPr sz="2200">
              <a:solidFill>
                <a:schemeClr val="dk2"/>
              </a:solidFill>
              <a:latin typeface="Average"/>
              <a:ea typeface="Average"/>
              <a:cs typeface="Average"/>
              <a:sym typeface="Average"/>
            </a:endParaRPr>
          </a:p>
          <a:p>
            <a:pPr indent="0" lvl="0" marL="0" rtl="0" algn="l">
              <a:spcBef>
                <a:spcPts val="0"/>
              </a:spcBef>
              <a:spcAft>
                <a:spcPts val="0"/>
              </a:spcAft>
              <a:buNone/>
            </a:pPr>
            <a:r>
              <a:rPr lang="en-GB" sz="1800">
                <a:solidFill>
                  <a:schemeClr val="dk2"/>
                </a:solidFill>
                <a:latin typeface="Average"/>
                <a:ea typeface="Average"/>
                <a:cs typeface="Average"/>
                <a:sym typeface="Average"/>
              </a:rPr>
              <a:t>Education for All is a charity organization that aims to improve its fundraising performance. However, the organization needs a better understanding of donor behavior, donation patterns, and donor characteristics to make informed fundraising decisions. This analysis was conducted to identify key insights from the donation data and provide recommendations that will help increase the number of donors, encourage more frequent donations, and increase the overall value of donations.</a:t>
            </a:r>
            <a:endParaRPr sz="1800">
              <a:solidFill>
                <a:schemeClr val="dk2"/>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nvSpPr>
        <p:spPr>
          <a:xfrm>
            <a:off x="349405" y="200722"/>
            <a:ext cx="5583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BUSINESS QUESTIONS AND ANALYSIS</a:t>
            </a:r>
            <a:endParaRPr b="1">
              <a:latin typeface="Average"/>
              <a:ea typeface="Average"/>
              <a:cs typeface="Average"/>
              <a:sym typeface="Average"/>
            </a:endParaRPr>
          </a:p>
        </p:txBody>
      </p:sp>
      <p:sp>
        <p:nvSpPr>
          <p:cNvPr id="84" name="Google Shape;84;p18"/>
          <p:cNvSpPr txBox="1"/>
          <p:nvPr/>
        </p:nvSpPr>
        <p:spPr>
          <a:xfrm>
            <a:off x="349409" y="773151"/>
            <a:ext cx="30000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a:t>
            </a:r>
            <a:r>
              <a:rPr b="1" lang="en-GB">
                <a:latin typeface="Average"/>
                <a:ea typeface="Average"/>
                <a:cs typeface="Average"/>
                <a:sym typeface="Average"/>
              </a:rPr>
              <a:t> A</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How much is the total donatio</a:t>
            </a:r>
            <a:r>
              <a:rPr lang="en-GB">
                <a:latin typeface="Average"/>
                <a:ea typeface="Average"/>
                <a:cs typeface="Average"/>
                <a:sym typeface="Average"/>
              </a:rPr>
              <a:t>n?</a:t>
            </a:r>
            <a:endParaRPr>
              <a:latin typeface="Average"/>
              <a:ea typeface="Average"/>
              <a:cs typeface="Average"/>
              <a:sym typeface="Average"/>
            </a:endParaRPr>
          </a:p>
        </p:txBody>
      </p:sp>
      <p:pic>
        <p:nvPicPr>
          <p:cNvPr id="85" name="Google Shape;85;p18"/>
          <p:cNvPicPr preferRelativeResize="0"/>
          <p:nvPr/>
        </p:nvPicPr>
        <p:blipFill>
          <a:blip r:embed="rId3">
            <a:alphaModFix/>
          </a:blip>
          <a:stretch>
            <a:fillRect/>
          </a:stretch>
        </p:blipFill>
        <p:spPr>
          <a:xfrm>
            <a:off x="349402" y="1557385"/>
            <a:ext cx="3624150" cy="2618365"/>
          </a:xfrm>
          <a:prstGeom prst="rect">
            <a:avLst/>
          </a:prstGeom>
          <a:noFill/>
          <a:ln>
            <a:noFill/>
          </a:ln>
        </p:spPr>
      </p:pic>
      <p:sp>
        <p:nvSpPr>
          <p:cNvPr id="86" name="Google Shape;86;p18"/>
          <p:cNvSpPr txBox="1"/>
          <p:nvPr/>
        </p:nvSpPr>
        <p:spPr>
          <a:xfrm>
            <a:off x="349400" y="4175750"/>
            <a:ext cx="8118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Average"/>
                <a:ea typeface="Average"/>
                <a:cs typeface="Average"/>
                <a:sym typeface="Average"/>
              </a:rPr>
              <a:t>The total donation raised is 249,085, representing the total funds contributed by all donors in the dataset.</a:t>
            </a:r>
            <a:endParaRPr>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nvSpPr>
        <p:spPr>
          <a:xfrm>
            <a:off x="0" y="0"/>
            <a:ext cx="66759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B</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What is the total donation by gender?</a:t>
            </a:r>
            <a:endParaRPr b="1">
              <a:latin typeface="Average"/>
              <a:ea typeface="Average"/>
              <a:cs typeface="Average"/>
              <a:sym typeface="Average"/>
            </a:endParaRPr>
          </a:p>
        </p:txBody>
      </p:sp>
      <p:pic>
        <p:nvPicPr>
          <p:cNvPr id="92" name="Google Shape;92;p19"/>
          <p:cNvPicPr preferRelativeResize="0"/>
          <p:nvPr/>
        </p:nvPicPr>
        <p:blipFill>
          <a:blip r:embed="rId3">
            <a:alphaModFix/>
          </a:blip>
          <a:stretch>
            <a:fillRect/>
          </a:stretch>
        </p:blipFill>
        <p:spPr>
          <a:xfrm>
            <a:off x="213747" y="819598"/>
            <a:ext cx="5891551" cy="2758075"/>
          </a:xfrm>
          <a:prstGeom prst="rect">
            <a:avLst/>
          </a:prstGeom>
          <a:noFill/>
          <a:ln>
            <a:noFill/>
          </a:ln>
        </p:spPr>
      </p:pic>
      <p:sp>
        <p:nvSpPr>
          <p:cNvPr id="93" name="Google Shape;93;p19"/>
          <p:cNvSpPr txBox="1"/>
          <p:nvPr/>
        </p:nvSpPr>
        <p:spPr>
          <a:xfrm>
            <a:off x="371700" y="3577675"/>
            <a:ext cx="66759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2"/>
                </a:solidFill>
                <a:latin typeface="Average"/>
                <a:ea typeface="Average"/>
                <a:cs typeface="Average"/>
                <a:sym typeface="Average"/>
              </a:rPr>
              <a:t>This analysis shows the total donation contributed by each gender, helping to identify which group contributed more to the overall fundraising.</a:t>
            </a:r>
            <a:endParaRPr>
              <a:solidFill>
                <a:schemeClr val="dk2"/>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nvSpPr>
        <p:spPr>
          <a:xfrm>
            <a:off x="230451" y="178432"/>
            <a:ext cx="7679100" cy="85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C</a:t>
            </a:r>
            <a:endParaRPr b="1">
              <a:latin typeface="Average"/>
              <a:ea typeface="Average"/>
              <a:cs typeface="Average"/>
              <a:sym typeface="Average"/>
            </a:endParaRPr>
          </a:p>
          <a:p>
            <a:pPr indent="0" lvl="0" marL="0" rtl="0" algn="l">
              <a:spcBef>
                <a:spcPts val="0"/>
              </a:spcBef>
              <a:spcAft>
                <a:spcPts val="0"/>
              </a:spcAft>
              <a:buNone/>
            </a:pPr>
            <a:r>
              <a:t/>
            </a:r>
            <a:endParaRPr b="1" sz="1600">
              <a:solidFill>
                <a:schemeClr val="dk2"/>
              </a:solidFill>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Show the total donation and number of donations by gender.</a:t>
            </a:r>
            <a:endParaRPr b="1">
              <a:latin typeface="Average"/>
              <a:ea typeface="Average"/>
              <a:cs typeface="Average"/>
              <a:sym typeface="Average"/>
            </a:endParaRPr>
          </a:p>
        </p:txBody>
      </p:sp>
      <p:pic>
        <p:nvPicPr>
          <p:cNvPr id="99" name="Google Shape;99;p20"/>
          <p:cNvPicPr preferRelativeResize="0"/>
          <p:nvPr/>
        </p:nvPicPr>
        <p:blipFill>
          <a:blip r:embed="rId3">
            <a:alphaModFix/>
          </a:blip>
          <a:stretch>
            <a:fillRect/>
          </a:stretch>
        </p:blipFill>
        <p:spPr>
          <a:xfrm>
            <a:off x="230450" y="978999"/>
            <a:ext cx="5869249" cy="2648376"/>
          </a:xfrm>
          <a:prstGeom prst="rect">
            <a:avLst/>
          </a:prstGeom>
          <a:noFill/>
          <a:ln>
            <a:noFill/>
          </a:ln>
        </p:spPr>
      </p:pic>
      <p:sp>
        <p:nvSpPr>
          <p:cNvPr id="100" name="Google Shape;100;p20"/>
          <p:cNvSpPr txBox="1"/>
          <p:nvPr/>
        </p:nvSpPr>
        <p:spPr>
          <a:xfrm>
            <a:off x="230450" y="3477300"/>
            <a:ext cx="8757300" cy="16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2"/>
              </a:solidFill>
              <a:latin typeface="Average"/>
              <a:ea typeface="Average"/>
              <a:cs typeface="Average"/>
              <a:sym typeface="Average"/>
            </a:endParaRPr>
          </a:p>
          <a:p>
            <a:pPr indent="0" lvl="0" marL="0" rtl="0" algn="l">
              <a:spcBef>
                <a:spcPts val="0"/>
              </a:spcBef>
              <a:spcAft>
                <a:spcPts val="0"/>
              </a:spcAft>
              <a:buNone/>
            </a:pPr>
            <a:r>
              <a:rPr lang="en-GB" sz="1600">
                <a:solidFill>
                  <a:schemeClr val="dk2"/>
                </a:solidFill>
                <a:latin typeface="Average"/>
                <a:ea typeface="Average"/>
                <a:cs typeface="Average"/>
                <a:sym typeface="Average"/>
              </a:rPr>
              <a:t>This analysis compares the total donation amount and the number of donations made by each gender, helping to identify differences in donation behavior. The results show that male donors contributed a higher total donation ($127,628) despite making fewer donations (492) than female donors, who made 508 donations totaling $121,457. This suggests that, on average, male donors gave larger donation amounts.</a:t>
            </a:r>
            <a:endParaRPr sz="1600">
              <a:solidFill>
                <a:schemeClr val="dk2"/>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nvSpPr>
        <p:spPr>
          <a:xfrm>
            <a:off x="208156" y="208156"/>
            <a:ext cx="5776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D</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Total donation made by frequency of donation.</a:t>
            </a:r>
            <a:endParaRPr b="1">
              <a:latin typeface="Average"/>
              <a:ea typeface="Average"/>
              <a:cs typeface="Average"/>
              <a:sym typeface="Average"/>
            </a:endParaRPr>
          </a:p>
        </p:txBody>
      </p:sp>
      <p:pic>
        <p:nvPicPr>
          <p:cNvPr id="106" name="Google Shape;106;p21"/>
          <p:cNvPicPr preferRelativeResize="0"/>
          <p:nvPr/>
        </p:nvPicPr>
        <p:blipFill>
          <a:blip r:embed="rId3">
            <a:alphaModFix/>
          </a:blip>
          <a:stretch>
            <a:fillRect/>
          </a:stretch>
        </p:blipFill>
        <p:spPr>
          <a:xfrm>
            <a:off x="152400" y="968649"/>
            <a:ext cx="4076799" cy="2636901"/>
          </a:xfrm>
          <a:prstGeom prst="rect">
            <a:avLst/>
          </a:prstGeom>
          <a:noFill/>
          <a:ln>
            <a:noFill/>
          </a:ln>
        </p:spPr>
      </p:pic>
      <p:sp>
        <p:nvSpPr>
          <p:cNvPr id="107" name="Google Shape;107;p21"/>
          <p:cNvSpPr txBox="1"/>
          <p:nvPr/>
        </p:nvSpPr>
        <p:spPr>
          <a:xfrm>
            <a:off x="0" y="3757950"/>
            <a:ext cx="8843100" cy="12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rPr lang="en-GB">
                <a:latin typeface="Average"/>
                <a:ea typeface="Average"/>
                <a:cs typeface="Average"/>
                <a:sym typeface="Average"/>
              </a:rPr>
              <a:t>This analysis shows the total donation amount by donation frequency. Yearly donors contributed the highest total donation ($35,266), while Monthly donors contributed the least ($26,870). It is worth noting that the “Never” category also recorded donations, which suggests a possible inconsistency in the dataset or how donation frequency was recorded.</a:t>
            </a:r>
            <a:endParaRPr>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nvSpPr>
        <p:spPr>
          <a:xfrm>
            <a:off x="327096" y="193288"/>
            <a:ext cx="52932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E</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Total donation and number of donations by job field.</a:t>
            </a:r>
            <a:endParaRPr b="1">
              <a:latin typeface="Average"/>
              <a:ea typeface="Average"/>
              <a:cs typeface="Average"/>
              <a:sym typeface="Average"/>
            </a:endParaRPr>
          </a:p>
        </p:txBody>
      </p:sp>
      <p:pic>
        <p:nvPicPr>
          <p:cNvPr id="113" name="Google Shape;113;p22"/>
          <p:cNvPicPr preferRelativeResize="0"/>
          <p:nvPr/>
        </p:nvPicPr>
        <p:blipFill>
          <a:blip r:embed="rId3">
            <a:alphaModFix/>
          </a:blip>
          <a:stretch>
            <a:fillRect/>
          </a:stretch>
        </p:blipFill>
        <p:spPr>
          <a:xfrm>
            <a:off x="152400" y="1165300"/>
            <a:ext cx="3787699" cy="2908599"/>
          </a:xfrm>
          <a:prstGeom prst="rect">
            <a:avLst/>
          </a:prstGeom>
          <a:noFill/>
          <a:ln>
            <a:noFill/>
          </a:ln>
        </p:spPr>
      </p:pic>
      <p:sp>
        <p:nvSpPr>
          <p:cNvPr id="114" name="Google Shape;114;p22"/>
          <p:cNvSpPr txBox="1"/>
          <p:nvPr/>
        </p:nvSpPr>
        <p:spPr>
          <a:xfrm>
            <a:off x="152400" y="3702200"/>
            <a:ext cx="84378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2"/>
                </a:solidFill>
                <a:latin typeface="Average"/>
                <a:ea typeface="Average"/>
                <a:cs typeface="Average"/>
                <a:sym typeface="Average"/>
              </a:rPr>
              <a:t>:</a:t>
            </a:r>
            <a:endParaRPr>
              <a:solidFill>
                <a:schemeClr val="dk2"/>
              </a:solidFill>
              <a:latin typeface="Average"/>
              <a:ea typeface="Average"/>
              <a:cs typeface="Average"/>
              <a:sym typeface="Average"/>
            </a:endParaRPr>
          </a:p>
          <a:p>
            <a:pPr indent="0" lvl="0" marL="0" rtl="0" algn="l">
              <a:spcBef>
                <a:spcPts val="0"/>
              </a:spcBef>
              <a:spcAft>
                <a:spcPts val="0"/>
              </a:spcAft>
              <a:buNone/>
            </a:pPr>
            <a:r>
              <a:t/>
            </a:r>
            <a:endParaRPr>
              <a:solidFill>
                <a:schemeClr val="dk2"/>
              </a:solidFill>
              <a:latin typeface="Average"/>
              <a:ea typeface="Average"/>
              <a:cs typeface="Average"/>
              <a:sym typeface="Average"/>
            </a:endParaRPr>
          </a:p>
          <a:p>
            <a:pPr indent="0" lvl="0" marL="0" rtl="0" algn="l">
              <a:spcBef>
                <a:spcPts val="0"/>
              </a:spcBef>
              <a:spcAft>
                <a:spcPts val="0"/>
              </a:spcAft>
              <a:buNone/>
            </a:pPr>
            <a:r>
              <a:rPr lang="en-GB">
                <a:solidFill>
                  <a:schemeClr val="dk2"/>
                </a:solidFill>
                <a:latin typeface="Average"/>
                <a:ea typeface="Average"/>
                <a:cs typeface="Average"/>
                <a:sym typeface="Average"/>
              </a:rPr>
              <a:t>This analysis shows the total donation amount and the number of donations by job field, helping identify the occupations that contribute the most to fundraising.</a:t>
            </a:r>
            <a:endParaRPr>
              <a:solidFill>
                <a:schemeClr val="dk2"/>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nvSpPr>
        <p:spPr>
          <a:xfrm>
            <a:off x="0" y="0"/>
            <a:ext cx="62892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F</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Total donation and number of donations above $200.</a:t>
            </a:r>
            <a:endParaRPr b="1">
              <a:latin typeface="Average"/>
              <a:ea typeface="Average"/>
              <a:cs typeface="Average"/>
              <a:sym typeface="Average"/>
            </a:endParaRPr>
          </a:p>
        </p:txBody>
      </p:sp>
      <p:pic>
        <p:nvPicPr>
          <p:cNvPr id="120" name="Google Shape;120;p23"/>
          <p:cNvPicPr preferRelativeResize="0"/>
          <p:nvPr/>
        </p:nvPicPr>
        <p:blipFill>
          <a:blip r:embed="rId3">
            <a:alphaModFix/>
          </a:blip>
          <a:stretch>
            <a:fillRect/>
          </a:stretch>
        </p:blipFill>
        <p:spPr>
          <a:xfrm>
            <a:off x="152400" y="972000"/>
            <a:ext cx="4419600" cy="2031399"/>
          </a:xfrm>
          <a:prstGeom prst="rect">
            <a:avLst/>
          </a:prstGeom>
          <a:noFill/>
          <a:ln>
            <a:noFill/>
          </a:ln>
        </p:spPr>
      </p:pic>
      <p:sp>
        <p:nvSpPr>
          <p:cNvPr id="121" name="Google Shape;121;p23"/>
          <p:cNvSpPr txBox="1"/>
          <p:nvPr/>
        </p:nvSpPr>
        <p:spPr>
          <a:xfrm>
            <a:off x="323375" y="2579100"/>
            <a:ext cx="6802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This analysis shows the total donation amount and the number of donations above $200. A total of 586 donations above $200 contributed $205,892, indicating that high-value donations make a significant contribution to the organization’s total fundraising.</a:t>
            </a:r>
            <a:endParaRPr sz="1500">
              <a:solidFill>
                <a:schemeClr val="dk2"/>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nvSpPr>
        <p:spPr>
          <a:xfrm>
            <a:off x="306600" y="172600"/>
            <a:ext cx="8530800" cy="93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Average"/>
                <a:ea typeface="Average"/>
                <a:cs typeface="Average"/>
                <a:sym typeface="Average"/>
              </a:rPr>
              <a:t>Question </a:t>
            </a:r>
            <a:r>
              <a:rPr b="1" lang="en-GB" sz="1600">
                <a:latin typeface="Average"/>
                <a:ea typeface="Average"/>
                <a:cs typeface="Average"/>
                <a:sym typeface="Average"/>
              </a:rPr>
              <a:t>G</a:t>
            </a:r>
            <a:endParaRPr b="1" sz="1600">
              <a:latin typeface="Average"/>
              <a:ea typeface="Average"/>
              <a:cs typeface="Average"/>
              <a:sym typeface="Average"/>
            </a:endParaRPr>
          </a:p>
          <a:p>
            <a:pPr indent="0" lvl="0" marL="0" rtl="0" algn="l">
              <a:spcBef>
                <a:spcPts val="0"/>
              </a:spcBef>
              <a:spcAft>
                <a:spcPts val="0"/>
              </a:spcAft>
              <a:buNone/>
            </a:pPr>
            <a:r>
              <a:t/>
            </a:r>
            <a:endParaRPr b="1" sz="1600">
              <a:latin typeface="Average"/>
              <a:ea typeface="Average"/>
              <a:cs typeface="Average"/>
              <a:sym typeface="Average"/>
            </a:endParaRPr>
          </a:p>
          <a:p>
            <a:pPr indent="0" lvl="0" marL="0" rtl="0" algn="l">
              <a:spcBef>
                <a:spcPts val="0"/>
              </a:spcBef>
              <a:spcAft>
                <a:spcPts val="0"/>
              </a:spcAft>
              <a:buNone/>
            </a:pPr>
            <a:r>
              <a:rPr b="1" lang="en-GB" sz="1600">
                <a:latin typeface="Average"/>
                <a:ea typeface="Average"/>
                <a:cs typeface="Average"/>
                <a:sym typeface="Average"/>
              </a:rPr>
              <a:t>Total donation and number of donations below $200.</a:t>
            </a:r>
            <a:endParaRPr b="1" sz="1600">
              <a:latin typeface="Average"/>
              <a:ea typeface="Average"/>
              <a:cs typeface="Average"/>
              <a:sym typeface="Average"/>
            </a:endParaRPr>
          </a:p>
        </p:txBody>
      </p:sp>
      <p:pic>
        <p:nvPicPr>
          <p:cNvPr id="127" name="Google Shape;127;p24"/>
          <p:cNvPicPr preferRelativeResize="0"/>
          <p:nvPr/>
        </p:nvPicPr>
        <p:blipFill>
          <a:blip r:embed="rId3">
            <a:alphaModFix/>
          </a:blip>
          <a:stretch>
            <a:fillRect/>
          </a:stretch>
        </p:blipFill>
        <p:spPr>
          <a:xfrm>
            <a:off x="152400" y="1107700"/>
            <a:ext cx="5586752" cy="2044374"/>
          </a:xfrm>
          <a:prstGeom prst="rect">
            <a:avLst/>
          </a:prstGeom>
          <a:noFill/>
          <a:ln>
            <a:noFill/>
          </a:ln>
        </p:spPr>
      </p:pic>
      <p:sp>
        <p:nvSpPr>
          <p:cNvPr id="128" name="Google Shape;128;p24"/>
          <p:cNvSpPr txBox="1"/>
          <p:nvPr/>
        </p:nvSpPr>
        <p:spPr>
          <a:xfrm>
            <a:off x="308550" y="3324675"/>
            <a:ext cx="7318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dk2"/>
              </a:solidFill>
              <a:latin typeface="Average"/>
              <a:ea typeface="Average"/>
              <a:cs typeface="Average"/>
              <a:sym typeface="Average"/>
            </a:endParaRPr>
          </a:p>
          <a:p>
            <a:pPr indent="0" lvl="0" marL="0" rtl="0" algn="l">
              <a:spcBef>
                <a:spcPts val="0"/>
              </a:spcBef>
              <a:spcAft>
                <a:spcPts val="0"/>
              </a:spcAft>
              <a:buNone/>
            </a:pPr>
            <a:r>
              <a:rPr lang="en-GB" sz="1500">
                <a:solidFill>
                  <a:schemeClr val="dk2"/>
                </a:solidFill>
                <a:latin typeface="Average"/>
                <a:ea typeface="Average"/>
                <a:cs typeface="Average"/>
                <a:sym typeface="Average"/>
              </a:rPr>
              <a:t>This analysis shows the total donation amount and the number of donations above $200. The results indicate that 586 donations above $200 generated a total of 205,892, showing that high-value donations make a significant contribution to the organization’s fundraising.</a:t>
            </a:r>
            <a:endParaRPr sz="1500">
              <a:solidFill>
                <a:schemeClr val="dk2"/>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nvSpPr>
        <p:spPr>
          <a:xfrm>
            <a:off x="0" y="0"/>
            <a:ext cx="50478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 H</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Top 10 states contributing the highest donations.</a:t>
            </a:r>
            <a:endParaRPr b="1">
              <a:latin typeface="Average"/>
              <a:ea typeface="Average"/>
              <a:cs typeface="Average"/>
              <a:sym typeface="Average"/>
            </a:endParaRPr>
          </a:p>
        </p:txBody>
      </p:sp>
      <p:pic>
        <p:nvPicPr>
          <p:cNvPr id="134" name="Google Shape;134;p25"/>
          <p:cNvPicPr preferRelativeResize="0"/>
          <p:nvPr/>
        </p:nvPicPr>
        <p:blipFill>
          <a:blip r:embed="rId3">
            <a:alphaModFix/>
          </a:blip>
          <a:stretch>
            <a:fillRect/>
          </a:stretch>
        </p:blipFill>
        <p:spPr>
          <a:xfrm>
            <a:off x="256500" y="819600"/>
            <a:ext cx="3289601" cy="3090750"/>
          </a:xfrm>
          <a:prstGeom prst="rect">
            <a:avLst/>
          </a:prstGeom>
          <a:noFill/>
          <a:ln>
            <a:noFill/>
          </a:ln>
        </p:spPr>
      </p:pic>
      <p:sp>
        <p:nvSpPr>
          <p:cNvPr id="135" name="Google Shape;135;p25"/>
          <p:cNvSpPr txBox="1"/>
          <p:nvPr/>
        </p:nvSpPr>
        <p:spPr>
          <a:xfrm>
            <a:off x="256500" y="3532675"/>
            <a:ext cx="8144100" cy="14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rPr lang="en-GB">
                <a:latin typeface="Average"/>
                <a:ea typeface="Average"/>
                <a:cs typeface="Average"/>
                <a:sym typeface="Average"/>
              </a:rPr>
              <a:t>This analysis identifies the top 10 states with the highest total donations, helping the organization identify its strongest fundraising regions. California recorded the highest total donation ($30,264), followed by Texas ($24,097) and Florida ($20,562), while Ohio ranked tenth with $6,876. These states represent key areas for maintaining and expanding fundraising efforts.</a:t>
            </a:r>
            <a:endParaRPr>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nvSpPr>
        <p:spPr>
          <a:xfrm>
            <a:off x="267629" y="193288"/>
            <a:ext cx="74043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Question</a:t>
            </a:r>
            <a:r>
              <a:rPr b="1" lang="en-GB">
                <a:latin typeface="Average"/>
                <a:ea typeface="Average"/>
                <a:cs typeface="Average"/>
                <a:sym typeface="Average"/>
              </a:rPr>
              <a:t> I</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0" lvl="0" marL="0" rtl="0" algn="l">
              <a:spcBef>
                <a:spcPts val="0"/>
              </a:spcBef>
              <a:spcAft>
                <a:spcPts val="0"/>
              </a:spcAft>
              <a:buNone/>
            </a:pPr>
            <a:r>
              <a:rPr b="1" lang="en-GB">
                <a:latin typeface="Average"/>
                <a:ea typeface="Average"/>
                <a:cs typeface="Average"/>
                <a:sym typeface="Average"/>
              </a:rPr>
              <a:t>Top 10 states contributing the least donations.</a:t>
            </a:r>
            <a:endParaRPr b="1">
              <a:latin typeface="Average"/>
              <a:ea typeface="Average"/>
              <a:cs typeface="Average"/>
              <a:sym typeface="Average"/>
            </a:endParaRPr>
          </a:p>
        </p:txBody>
      </p:sp>
      <p:pic>
        <p:nvPicPr>
          <p:cNvPr id="141" name="Google Shape;141;p26"/>
          <p:cNvPicPr preferRelativeResize="0"/>
          <p:nvPr/>
        </p:nvPicPr>
        <p:blipFill>
          <a:blip r:embed="rId3">
            <a:alphaModFix/>
          </a:blip>
          <a:stretch>
            <a:fillRect/>
          </a:stretch>
        </p:blipFill>
        <p:spPr>
          <a:xfrm>
            <a:off x="152400" y="1165300"/>
            <a:ext cx="3111201" cy="2566651"/>
          </a:xfrm>
          <a:prstGeom prst="rect">
            <a:avLst/>
          </a:prstGeom>
          <a:noFill/>
          <a:ln>
            <a:noFill/>
          </a:ln>
        </p:spPr>
      </p:pic>
      <p:sp>
        <p:nvSpPr>
          <p:cNvPr id="142" name="Google Shape;142;p26"/>
          <p:cNvSpPr txBox="1"/>
          <p:nvPr/>
        </p:nvSpPr>
        <p:spPr>
          <a:xfrm>
            <a:off x="152412" y="3884350"/>
            <a:ext cx="8467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Average"/>
                <a:ea typeface="Average"/>
                <a:cs typeface="Average"/>
                <a:sym typeface="Average"/>
              </a:rPr>
              <a:t>This analysis identifies the top 10 states with the lowest total donations, helping the organization recognize regions with lower fundraising performance. Wyoming recorded the lowest total donation (232), while Montana ranked tenth with 1,009. These states present opportunities for targeted fundraising campaigns and improved donor engagement.</a:t>
            </a:r>
            <a:endParaRPr>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nvSpPr>
        <p:spPr>
          <a:xfrm>
            <a:off x="252761" y="208156"/>
            <a:ext cx="50553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Average"/>
                <a:ea typeface="Average"/>
                <a:cs typeface="Average"/>
                <a:sym typeface="Average"/>
              </a:rPr>
              <a:t>Question </a:t>
            </a:r>
            <a:r>
              <a:rPr lang="en-GB">
                <a:latin typeface="Average"/>
                <a:ea typeface="Average"/>
                <a:cs typeface="Average"/>
                <a:sym typeface="Average"/>
              </a:rPr>
              <a:t>J</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rPr lang="en-GB">
                <a:latin typeface="Average"/>
                <a:ea typeface="Average"/>
                <a:cs typeface="Average"/>
                <a:sym typeface="Average"/>
              </a:rPr>
              <a:t>Top 10 cars driven by the highest donors.</a:t>
            </a:r>
            <a:endParaRPr>
              <a:latin typeface="Average"/>
              <a:ea typeface="Average"/>
              <a:cs typeface="Average"/>
              <a:sym typeface="Average"/>
            </a:endParaRPr>
          </a:p>
        </p:txBody>
      </p:sp>
      <p:pic>
        <p:nvPicPr>
          <p:cNvPr id="148" name="Google Shape;148;p27"/>
          <p:cNvPicPr preferRelativeResize="0"/>
          <p:nvPr/>
        </p:nvPicPr>
        <p:blipFill>
          <a:blip r:embed="rId3">
            <a:alphaModFix/>
          </a:blip>
          <a:stretch>
            <a:fillRect/>
          </a:stretch>
        </p:blipFill>
        <p:spPr>
          <a:xfrm>
            <a:off x="442400" y="1178650"/>
            <a:ext cx="3594350" cy="2791174"/>
          </a:xfrm>
          <a:prstGeom prst="rect">
            <a:avLst/>
          </a:prstGeom>
          <a:noFill/>
          <a:ln>
            <a:noFill/>
          </a:ln>
        </p:spPr>
      </p:pic>
      <p:sp>
        <p:nvSpPr>
          <p:cNvPr id="149" name="Google Shape;149;p27"/>
          <p:cNvSpPr txBox="1"/>
          <p:nvPr/>
        </p:nvSpPr>
        <p:spPr>
          <a:xfrm>
            <a:off x="442400" y="3494040"/>
            <a:ext cx="7593900" cy="12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0" lvl="0" marL="0" rtl="0" algn="l">
              <a:spcBef>
                <a:spcPts val="0"/>
              </a:spcBef>
              <a:spcAft>
                <a:spcPts val="0"/>
              </a:spcAft>
              <a:buNone/>
            </a:pPr>
            <a:r>
              <a:rPr lang="en-GB">
                <a:latin typeface="Average"/>
                <a:ea typeface="Average"/>
                <a:cs typeface="Average"/>
                <a:sym typeface="Average"/>
              </a:rPr>
              <a:t>This analysis identifies the top 10 car brands driven by the highest donors, providing insight into donor characteristics. Ford owners contributed the highest total donation ($22,706), followed by Chevrolet ($19,875) and Toyota ($14,123), while BMW ranked tenth with $8,608.</a:t>
            </a:r>
            <a:endParaRPr>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nvSpPr>
        <p:spPr>
          <a:xfrm>
            <a:off x="260200" y="270750"/>
            <a:ext cx="7612500" cy="408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latin typeface="Average"/>
                <a:ea typeface="Average"/>
                <a:cs typeface="Average"/>
                <a:sym typeface="Average"/>
              </a:rPr>
              <a:t>Dataset</a:t>
            </a:r>
            <a:endParaRPr b="1" sz="1700">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0" lvl="0" marL="0" rtl="0" algn="l">
              <a:spcBef>
                <a:spcPts val="0"/>
              </a:spcBef>
              <a:spcAft>
                <a:spcPts val="0"/>
              </a:spcAft>
              <a:buNone/>
            </a:pPr>
            <a:r>
              <a:rPr lang="en-GB" sz="1700">
                <a:solidFill>
                  <a:schemeClr val="dk2"/>
                </a:solidFill>
                <a:latin typeface="Average"/>
                <a:ea typeface="Average"/>
                <a:cs typeface="Average"/>
                <a:sym typeface="Average"/>
              </a:rPr>
              <a:t>This analysis was conducted using two datasets provided by Education for All:</a:t>
            </a:r>
            <a:endParaRPr sz="1700">
              <a:solidFill>
                <a:schemeClr val="dk2"/>
              </a:solidFill>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336550" lvl="0" marL="457200" rtl="0" algn="l">
              <a:spcBef>
                <a:spcPts val="0"/>
              </a:spcBef>
              <a:spcAft>
                <a:spcPts val="0"/>
              </a:spcAft>
              <a:buClr>
                <a:schemeClr val="dk2"/>
              </a:buClr>
              <a:buSzPts val="1700"/>
              <a:buFont typeface="Average"/>
              <a:buChar char="●"/>
            </a:pPr>
            <a:r>
              <a:rPr lang="en-GB" sz="1700">
                <a:solidFill>
                  <a:schemeClr val="dk2"/>
                </a:solidFill>
                <a:latin typeface="Average"/>
                <a:ea typeface="Average"/>
                <a:cs typeface="Average"/>
                <a:sym typeface="Average"/>
              </a:rPr>
              <a:t> </a:t>
            </a:r>
            <a:r>
              <a:rPr b="1" lang="en-GB" sz="1700">
                <a:solidFill>
                  <a:schemeClr val="dk2"/>
                </a:solidFill>
                <a:latin typeface="Average"/>
                <a:ea typeface="Average"/>
                <a:cs typeface="Average"/>
                <a:sym typeface="Average"/>
              </a:rPr>
              <a:t>Donation_Data:</a:t>
            </a:r>
            <a:r>
              <a:rPr lang="en-GB" sz="1700">
                <a:solidFill>
                  <a:schemeClr val="dk2"/>
                </a:solidFill>
                <a:latin typeface="Average"/>
                <a:ea typeface="Average"/>
                <a:cs typeface="Average"/>
                <a:sym typeface="Average"/>
              </a:rPr>
              <a:t> Contains donor information such as donor ID, name, gender, job field, donation amount, state of residence, and shirt size</a:t>
            </a:r>
            <a:r>
              <a:rPr lang="en-GB" sz="1700">
                <a:solidFill>
                  <a:schemeClr val="dk2"/>
                </a:solidFill>
                <a:latin typeface="Average"/>
                <a:ea typeface="Average"/>
                <a:cs typeface="Average"/>
                <a:sym typeface="Average"/>
              </a:rPr>
              <a:t>.</a:t>
            </a:r>
            <a:endParaRPr sz="1700">
              <a:solidFill>
                <a:schemeClr val="dk2"/>
              </a:solidFill>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336550" lvl="0" marL="457200" rtl="0" algn="l">
              <a:spcBef>
                <a:spcPts val="0"/>
              </a:spcBef>
              <a:spcAft>
                <a:spcPts val="0"/>
              </a:spcAft>
              <a:buClr>
                <a:schemeClr val="dk2"/>
              </a:buClr>
              <a:buSzPts val="1700"/>
              <a:buFont typeface="Average"/>
              <a:buChar char="●"/>
            </a:pPr>
            <a:r>
              <a:rPr b="1" lang="en-GB" sz="1700">
                <a:solidFill>
                  <a:schemeClr val="dk2"/>
                </a:solidFill>
                <a:latin typeface="Average"/>
                <a:ea typeface="Average"/>
                <a:cs typeface="Average"/>
                <a:sym typeface="Average"/>
              </a:rPr>
              <a:t>Donor_Data: </a:t>
            </a:r>
            <a:r>
              <a:rPr lang="en-GB" sz="1700">
                <a:solidFill>
                  <a:schemeClr val="dk2"/>
                </a:solidFill>
                <a:latin typeface="Average"/>
                <a:ea typeface="Average"/>
                <a:cs typeface="Average"/>
                <a:sym typeface="Average"/>
              </a:rPr>
              <a:t>Contains additional donor information including donation frequency, university attended, car make, second language, favourite colour, and movie genre.</a:t>
            </a:r>
            <a:endParaRPr sz="1700">
              <a:solidFill>
                <a:schemeClr val="dk2"/>
              </a:solidFill>
              <a:latin typeface="Average"/>
              <a:ea typeface="Average"/>
              <a:cs typeface="Average"/>
              <a:sym typeface="Average"/>
            </a:endParaRPr>
          </a:p>
          <a:p>
            <a:pPr indent="0" lvl="0" marL="0" rtl="0" algn="l">
              <a:spcBef>
                <a:spcPts val="0"/>
              </a:spcBef>
              <a:spcAft>
                <a:spcPts val="0"/>
              </a:spcAft>
              <a:buNone/>
            </a:pPr>
            <a:r>
              <a:t/>
            </a:r>
            <a:endParaRPr sz="1700">
              <a:solidFill>
                <a:schemeClr val="dk2"/>
              </a:solidFill>
              <a:latin typeface="Average"/>
              <a:ea typeface="Average"/>
              <a:cs typeface="Average"/>
              <a:sym typeface="Average"/>
            </a:endParaRPr>
          </a:p>
          <a:p>
            <a:pPr indent="0" lvl="0" marL="0" rtl="0" algn="l">
              <a:spcBef>
                <a:spcPts val="0"/>
              </a:spcBef>
              <a:spcAft>
                <a:spcPts val="0"/>
              </a:spcAft>
              <a:buNone/>
            </a:pPr>
            <a:r>
              <a:rPr lang="en-GB" sz="1700">
                <a:solidFill>
                  <a:schemeClr val="dk2"/>
                </a:solidFill>
                <a:latin typeface="Average"/>
                <a:ea typeface="Average"/>
                <a:cs typeface="Average"/>
                <a:sym typeface="Average"/>
              </a:rPr>
              <a:t>The two datasets were linked using the Donor ID (id) to enable comprehensive analysis.</a:t>
            </a:r>
            <a:endParaRPr sz="1700">
              <a:solidFill>
                <a:schemeClr val="dk2"/>
              </a:solidFill>
              <a:latin typeface="Average"/>
              <a:ea typeface="Average"/>
              <a:cs typeface="Average"/>
              <a:sym typeface="Averag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nvSpPr>
        <p:spPr>
          <a:xfrm>
            <a:off x="178420" y="1077951"/>
            <a:ext cx="75456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Methodology</a:t>
            </a:r>
            <a:endParaRPr b="1">
              <a:latin typeface="Average"/>
              <a:ea typeface="Average"/>
              <a:cs typeface="Average"/>
              <a:sym typeface="Average"/>
            </a:endParaRPr>
          </a:p>
          <a:p>
            <a:pPr indent="0" lvl="0" marL="0" rtl="0" algn="l">
              <a:spcBef>
                <a:spcPts val="0"/>
              </a:spcBef>
              <a:spcAft>
                <a:spcPts val="0"/>
              </a:spcAft>
              <a:buNone/>
            </a:pPr>
            <a:r>
              <a:t/>
            </a:r>
            <a:endParaRPr b="1">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Imported the Donation_Data and Donor_Data datasets into PostgreSQL.</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Joined the two datasets using the JOIN and ON clauses based on the Donor ID (id)</a:t>
            </a:r>
            <a:endParaRPr>
              <a:latin typeface="Average"/>
              <a:ea typeface="Average"/>
              <a:cs typeface="Average"/>
              <a:sym typeface="Average"/>
            </a:endParaRPr>
          </a:p>
          <a:p>
            <a:pPr indent="0" lvl="0" marL="0" rtl="0" algn="l">
              <a:spcBef>
                <a:spcPts val="0"/>
              </a:spcBef>
              <a:spcAft>
                <a:spcPts val="0"/>
              </a:spcAft>
              <a:buNone/>
            </a:pPr>
            <a:r>
              <a:rPr lang="en-GB">
                <a:latin typeface="Average"/>
                <a:ea typeface="Average"/>
                <a:cs typeface="Average"/>
                <a:sym typeface="Average"/>
              </a:rPr>
              <a:t>.</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Used SQL statements and functions such as SELECT, FROM, WHERE, GROUP BY, ORDER BY, ASC, DESC, LIMIT, COUNT(), and SUM() to answer the required business questions.</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Interpreted the query results to generate insights and recommendations for the fundraising strategy.</a:t>
            </a:r>
            <a:endParaRPr>
              <a:latin typeface="Average"/>
              <a:ea typeface="Average"/>
              <a:cs typeface="Average"/>
              <a:sym typeface="Averag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nvSpPr>
        <p:spPr>
          <a:xfrm>
            <a:off x="327150" y="257105"/>
            <a:ext cx="84897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Average"/>
                <a:ea typeface="Average"/>
                <a:cs typeface="Average"/>
                <a:sym typeface="Average"/>
              </a:rPr>
              <a:t>Keyboard </a:t>
            </a:r>
            <a:r>
              <a:rPr b="1" lang="en-GB">
                <a:latin typeface="Average"/>
                <a:ea typeface="Average"/>
                <a:cs typeface="Average"/>
                <a:sym typeface="Average"/>
              </a:rPr>
              <a:t>Findings</a:t>
            </a:r>
            <a:endParaRPr b="1">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The total donation received from all donors provides a benchmark for evaluating the organization’s fundraising performance.</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Male donors contributed a higher total donation than female donors, despite making fewer donations.</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Yearly donors generated the highest total donation, while Monthly donors contributed the least.</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The “Never” donation frequency category also recorded donations, suggesting a possible inconsistency in the dataset or how donation frequency was recorded.</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Donations above $200 accounted for a significant portion of the total funds raised, contributing 205,892 from 586 donations.</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 California, Texas, and Florida recorded the highest total donations, while Wyoming, Maine, and South Dakota recorded the lowest.</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17500" lvl="0" marL="457200" rtl="0" algn="l">
              <a:spcBef>
                <a:spcPts val="0"/>
              </a:spcBef>
              <a:spcAft>
                <a:spcPts val="0"/>
              </a:spcAft>
              <a:buSzPts val="1400"/>
              <a:buFont typeface="Average"/>
              <a:buChar char="●"/>
            </a:pPr>
            <a:r>
              <a:rPr lang="en-GB">
                <a:latin typeface="Average"/>
                <a:ea typeface="Average"/>
                <a:cs typeface="Average"/>
                <a:sym typeface="Average"/>
              </a:rPr>
              <a:t>Donors who drive Ford, Chevrolet, and Toyota contributed the highest total donations among the top 10 car brands.</a:t>
            </a:r>
            <a:endParaRPr>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nvSpPr>
        <p:spPr>
          <a:xfrm>
            <a:off x="267625" y="498100"/>
            <a:ext cx="8162700" cy="39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Recommendations</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GB"/>
              <a:t>1</a:t>
            </a:r>
            <a:r>
              <a:rPr lang="en-GB"/>
              <a:t>. Increase the number of donors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 Launch targeted fundraising campaigns in states with lower donation levels.</a:t>
            </a:r>
            <a:endParaRPr/>
          </a:p>
          <a:p>
            <a:pPr indent="-317500" lvl="0" marL="457200" rtl="0" algn="l">
              <a:spcBef>
                <a:spcPts val="0"/>
              </a:spcBef>
              <a:spcAft>
                <a:spcPts val="0"/>
              </a:spcAft>
              <a:buSzPts val="1400"/>
              <a:buChar char="●"/>
            </a:pPr>
            <a:r>
              <a:rPr lang="en-GB"/>
              <a:t>  Use referral programs and social media campaigns to attract new donors.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2</a:t>
            </a:r>
            <a:r>
              <a:rPr lang="en-GB"/>
              <a:t>. Increase donation frequency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 Encourage one-time donors to become recurring donors through monthly or yearly giving programs.</a:t>
            </a:r>
            <a:endParaRPr/>
          </a:p>
          <a:p>
            <a:pPr indent="-317500" lvl="0" marL="457200" rtl="0" algn="l">
              <a:spcBef>
                <a:spcPts val="0"/>
              </a:spcBef>
              <a:spcAft>
                <a:spcPts val="0"/>
              </a:spcAft>
              <a:buSzPts val="1400"/>
              <a:buChar char="●"/>
            </a:pPr>
            <a:r>
              <a:rPr lang="en-GB"/>
              <a:t>Send regular reminders and personalized messages to keep donors engaged.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3</a:t>
            </a:r>
            <a:r>
              <a:rPr lang="en-GB"/>
              <a:t>. Increase the value of donations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GB"/>
              <a:t>Recognize and reward high-value donors to encourage continued support.</a:t>
            </a:r>
            <a:endParaRPr/>
          </a:p>
          <a:p>
            <a:pPr indent="-317500" lvl="0" marL="457200" rtl="0" algn="l">
              <a:spcBef>
                <a:spcPts val="0"/>
              </a:spcBef>
              <a:spcAft>
                <a:spcPts val="0"/>
              </a:spcAft>
              <a:buSzPts val="1400"/>
              <a:buChar char="●"/>
            </a:pPr>
            <a:r>
              <a:rPr lang="en-GB"/>
              <a:t>Develop fundraising campaigns that inspire donors to contribute larger amounts through impact stories and donation incentives.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nvSpPr>
        <p:spPr>
          <a:xfrm>
            <a:off x="275063" y="1353015"/>
            <a:ext cx="6720600" cy="269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Average"/>
                <a:ea typeface="Average"/>
                <a:cs typeface="Average"/>
                <a:sym typeface="Average"/>
              </a:rPr>
              <a:t>Conclusion</a:t>
            </a:r>
            <a:endParaRPr b="1"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rPr lang="en-GB" sz="1800">
                <a:latin typeface="Average"/>
                <a:ea typeface="Average"/>
                <a:cs typeface="Average"/>
                <a:sym typeface="Average"/>
              </a:rPr>
              <a:t>This analysis provided meaningful insights into donor behavior and fundraising performance using SQL. The findings highlighted key donation trends, donor characteristics, and regional contributions that can support data-driven fundraising decisions. By implementing the recommendations presented, Education for All can strengthen donor engagement, increase donation frequency, and improve overall fundraising outcomes.</a:t>
            </a:r>
            <a:endParaRPr sz="1800">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